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6908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780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27432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8036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89611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9164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908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5780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4088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23960" y="151790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9164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8600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8036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6908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5780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216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4652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4088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3524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23960" y="2139696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8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9164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88036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7472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6908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5780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5216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652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4088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3524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2960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23960" y="2761488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9728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9164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8600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8036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472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6908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5780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5216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44652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04088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63524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823960" y="3383280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728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69164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88036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47472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06908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66344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5780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5216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4652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04088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63524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22960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23960" y="4005072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9728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69164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28600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88036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47472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06908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6344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5780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85216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44652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04088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63524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22960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823960" y="4626864"/>
            <a:ext cx="36576" cy="36576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657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EEZ · ETHEREUM ECONOMIC ZONE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36576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 of Ecosystem Relations</a:t>
            </a:r>
            <a:endParaRPr lang="en-US" sz="3800" dirty="0"/>
          </a:p>
        </p:txBody>
      </p:sp>
      <p:sp>
        <p:nvSpPr>
          <p:cNvPr id="117" name="Text 115"/>
          <p:cNvSpPr/>
          <p:nvPr/>
        </p:nvSpPr>
        <p:spPr>
          <a:xfrm>
            <a:off x="36576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Manager Brief — Strategy, Plan &amp; Approval Asks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365760" y="2560320"/>
            <a:ext cx="411480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65760" y="2697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 ·  April 2026  ·  Confidential</a:t>
            </a:r>
            <a:endParaRPr lang="en-US" sz="1200" dirty="0"/>
          </a:p>
        </p:txBody>
      </p:sp>
      <p:sp>
        <p:nvSpPr>
          <p:cNvPr id="120" name="Shape 118"/>
          <p:cNvSpPr/>
          <p:nvPr/>
        </p:nvSpPr>
        <p:spPr>
          <a:xfrm>
            <a:off x="6858000" y="2926080"/>
            <a:ext cx="201168" cy="20116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680960" y="34747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315200" y="4206240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583680" y="37490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046720" y="4480560"/>
            <a:ext cx="201168" cy="20116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958584" y="3026664"/>
            <a:ext cx="621792" cy="53035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15784" y="3575304"/>
            <a:ext cx="0" cy="53035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684264" y="3849624"/>
            <a:ext cx="713232" cy="530352"/>
          </a:xfrm>
          <a:prstGeom prst="line">
            <a:avLst/>
          </a:prstGeom>
          <a:noFill/>
          <a:ln w="9525">
            <a:solidFill>
              <a:srgbClr val="1A305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65760" y="4297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EEZ Status</a:t>
            </a:r>
            <a:endParaRPr lang="en-US" sz="950" dirty="0"/>
          </a:p>
        </p:txBody>
      </p:sp>
      <p:sp>
        <p:nvSpPr>
          <p:cNvPr id="129" name="Text 127"/>
          <p:cNvSpPr/>
          <p:nvPr/>
        </p:nvSpPr>
        <p:spPr>
          <a:xfrm>
            <a:off x="2468880" y="4297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Problems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4572000" y="4297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Target Audiences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6675120" y="4297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Positioning</a:t>
            </a:r>
            <a:endParaRPr lang="en-US" sz="950" dirty="0"/>
          </a:p>
        </p:txBody>
      </p:sp>
      <p:sp>
        <p:nvSpPr>
          <p:cNvPr id="132" name="Text 130"/>
          <p:cNvSpPr/>
          <p:nvPr/>
        </p:nvSpPr>
        <p:spPr>
          <a:xfrm>
            <a:off x="365760" y="4553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Collaboration Model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2468880" y="4553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AI Workflows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4572000" y="4553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30-Day Plan</a:t>
            </a:r>
            <a:endParaRPr lang="en-US" sz="950" dirty="0"/>
          </a:p>
        </p:txBody>
      </p:sp>
      <p:sp>
        <p:nvSpPr>
          <p:cNvPr id="135" name="Text 133"/>
          <p:cNvSpPr/>
          <p:nvPr/>
        </p:nvSpPr>
        <p:spPr>
          <a:xfrm>
            <a:off x="6675120" y="4553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Approval Asks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CURRENT STATUS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EEZ — and where do we stand?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4114800" cy="3474720"/>
          </a:xfrm>
          <a:prstGeom prst="rect">
            <a:avLst/>
          </a:prstGeom>
          <a:solidFill>
            <a:srgbClr val="0D1326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EEZ enables atomic transactions across multiple L2s and Ethereum mainnet within a single 12-second block — eliminating fragmentation across the $40B L2 ecosystem.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4144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ZK proving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4414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Zisk stack (Jordi Baylina)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71216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Within-slot finality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94560" y="282549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cross-chain in 12-second window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55264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09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published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32095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2, 2026 — EthResearch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639312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935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co-funded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19456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non-profit, independent of Gnosis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023360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776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EthCC demo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94560" y="39776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technical demonstration completed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1143000"/>
            <a:ext cx="4343400" cy="1554480"/>
          </a:xfrm>
          <a:prstGeom prst="rect">
            <a:avLst/>
          </a:prstGeom>
          <a:solidFill>
            <a:srgbClr val="131D3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WINDOW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15087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first technical demonstration and first network-effects-viable deployment.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 are made here.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2834640"/>
            <a:ext cx="4343400" cy="1783080"/>
          </a:xfrm>
          <a:prstGeom prst="rect">
            <a:avLst/>
          </a:prstGeom>
          <a:solidFill>
            <a:srgbClr val="0D1326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29535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FOUNDING ALLIANCE MEMBERS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246120"/>
            <a:ext cx="640080" cy="219456"/>
          </a:xfrm>
          <a:prstGeom prst="rect">
            <a:avLst>
              <a:gd name="adj" fmla="val 16667"/>
            </a:avLst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264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0" y="3246120"/>
            <a:ext cx="640080" cy="219456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3264408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1097280" cy="219456"/>
          </a:xfrm>
          <a:prstGeom prst="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91072" y="326440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Flashbots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406640" y="3246120"/>
            <a:ext cx="1188720" cy="219456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9792" y="3264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Nethermind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686800" y="3246120"/>
            <a:ext cx="1188720" cy="219456"/>
          </a:xfrm>
          <a:prstGeom prst="rect">
            <a:avLst>
              <a:gd name="adj" fmla="val 16667"/>
            </a:avLst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9952" y="3264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611880"/>
            <a:ext cx="1005840" cy="219456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630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Swap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852160" y="3611880"/>
            <a:ext cx="731520" cy="219456"/>
          </a:xfrm>
          <a:prstGeom prst="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3630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3611880"/>
            <a:ext cx="1371600" cy="219456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3630168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 Build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138160" y="3611880"/>
            <a:ext cx="1005840" cy="219456"/>
          </a:xfrm>
          <a:prstGeom prst="rect">
            <a:avLst>
              <a:gd name="adj" fmla="val 16667"/>
            </a:avLst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3630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Monerium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5440" y="3611880"/>
            <a:ext cx="914400" cy="219456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08592" y="363016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xStocks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54880" y="4114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+ Spark as additional partners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STARTING 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problems do we solve first?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mainnet, credibility is EEZ's only asset. Three threats can destroy it — one strategic constraint defines the timeline.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554480"/>
            <a:ext cx="4297680" cy="1572768"/>
          </a:xfrm>
          <a:prstGeom prst="rect">
            <a:avLst/>
          </a:prstGeom>
          <a:solidFill>
            <a:srgbClr val="180404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554480"/>
            <a:ext cx="73152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645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· BINDING CONSTRAINT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184708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Non-Gnosis L2 in evaluation by June 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3192" y="2212848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independent validator, EEZ looks like a Gnosis product. No L2 = no proof of neutrality. This is the hard gate — everything else supports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1728" y="1554480"/>
            <a:ext cx="4297680" cy="1572768"/>
          </a:xfrm>
          <a:prstGeom prst="rect">
            <a:avLst/>
          </a:prstGeom>
          <a:solidFill>
            <a:srgbClr val="1C150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554480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· CREDIBILITY THREAT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0" y="1847088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Gnosis association problem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EEZ is EF co-funded, Swiss non-profit. Any content framing it as a 'Gnosis product' or 'Gnosis composability layer' is a credibility incident with EF and EthResearch audiences.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310128"/>
            <a:ext cx="4297680" cy="1572768"/>
          </a:xfrm>
          <a:prstGeom prst="rect">
            <a:avLst/>
          </a:prstGeom>
          <a:solidFill>
            <a:srgbClr val="1C150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310128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4015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· SPECIFICATION RISK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" y="360273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benchmark as specification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3192" y="3968496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"3-second ZK proof" is a live demo result, not a shipped specification. If any Alliance post cites it without context, it becomes a permanent record — impossible to walk back.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3310128"/>
            <a:ext cx="4297680" cy="1572768"/>
          </a:xfrm>
          <a:prstGeom prst="rect">
            <a:avLst/>
          </a:prstGeom>
          <a:solidFill>
            <a:srgbClr val="160D2A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310128"/>
            <a:ext cx="73152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4015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· ALLIANCE 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360273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partners, no framework yet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46320" y="3968496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members will write their "why we joined" posts without approved language, governance blocks, or category framing unless a messaging guide is in their hands within 10 days.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TARGET AUDIENCES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we're talking to — and what they need to believe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81728" y="1143000"/>
            <a:ext cx="4233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TRACK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444752"/>
            <a:ext cx="4114800" cy="1508760"/>
          </a:xfrm>
          <a:prstGeom prst="rect">
            <a:avLst/>
          </a:prstGeom>
          <a:solidFill>
            <a:srgbClr val="0A152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444752"/>
            <a:ext cx="4114800" cy="3657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3619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OPERATORS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792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believe: EEZ does not require them to change infrastructure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0665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settlement across their chain — without rewriting their stack.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Non-Gnosis operator commitment = binding constraint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090672"/>
            <a:ext cx="4114800" cy="1508760"/>
          </a:xfrm>
          <a:prstGeom prst="rect">
            <a:avLst/>
          </a:prstGeom>
          <a:solidFill>
            <a:srgbClr val="0A152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90672"/>
            <a:ext cx="4114800" cy="3657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821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RESEARCHERS &amp; EF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38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believe: EEZ is technically sound and EF-aligned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371246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composability spec is on EthResearch. Participation tone only.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297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marketing misstep here is permanent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1444752"/>
            <a:ext cx="4233672" cy="1508760"/>
          </a:xfrm>
          <a:prstGeom prst="rect">
            <a:avLst/>
          </a:prstGeom>
          <a:solidFill>
            <a:srgbClr val="13100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1444752"/>
            <a:ext cx="423367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53619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TEAMS (DeFi)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64608" y="1792224"/>
            <a:ext cx="3959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believe: EEZ unlocks use cases impossible today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64608" y="2066544"/>
            <a:ext cx="3959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Aave: cross-chain collateral. Safe: atomic key rotation. CoW: liquidity depth.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2651760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members + near-term protocol integrations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090672"/>
            <a:ext cx="4233672" cy="1508760"/>
          </a:xfrm>
          <a:prstGeom prst="rect">
            <a:avLst/>
          </a:prstGeom>
          <a:solidFill>
            <a:srgbClr val="13100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81728" y="3090672"/>
            <a:ext cx="423367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18211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&amp; GOVERNANCE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64608" y="3438144"/>
            <a:ext cx="3959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believe: EEZ is neutral infrastructure, not a Gnosis power play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64608" y="3712464"/>
            <a:ext cx="3959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non-profit. EF co-funded. Governance-first framing in all DAO forums.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4297680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EGL leads; HoER approves messaging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" y="4736592"/>
            <a:ext cx="8686800" cy="256032"/>
          </a:xfrm>
          <a:prstGeom prst="rect">
            <a:avLst/>
          </a:prstGeom>
          <a:solidFill>
            <a:srgbClr val="0A102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Members &amp; Researchers are a separate segment: already committed — the goal is depth of conviction, not acquisition.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POSITIONING 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EEZ stands for — and what it will never say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5120640" cy="1325880"/>
          </a:xfrm>
          <a:prstGeom prst="rect">
            <a:avLst/>
          </a:prstGeom>
          <a:solidFill>
            <a:srgbClr val="131D3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43000"/>
            <a:ext cx="5120640" cy="4572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FRAME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4754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E5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"One Ethereum 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E5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synchronous composability for every chain"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0" y="1143000"/>
            <a:ext cx="3429000" cy="1325880"/>
          </a:xfrm>
          <a:prstGeom prst="rect">
            <a:avLst/>
          </a:prstGeom>
          <a:solidFill>
            <a:srgbClr val="180404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143000"/>
            <a:ext cx="3429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261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15087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Gnosis product / Gnosis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783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EEZ is the interoperability standard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3-second proof (as spec, not demo)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633472"/>
            <a:ext cx="2103120" cy="2331720"/>
          </a:xfrm>
          <a:prstGeom prst="rect">
            <a:avLst/>
          </a:prstGeom>
          <a:solidFill>
            <a:srgbClr val="0D1326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633472"/>
            <a:ext cx="2103120" cy="36576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3108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ZK (Zisk). Live EthCC demo.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Within-slot finality — proven, not claimed.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41448" y="2633472"/>
            <a:ext cx="2103120" cy="2331720"/>
          </a:xfrm>
          <a:prstGeom prst="rect">
            <a:avLst/>
          </a:prstGeom>
          <a:solidFill>
            <a:srgbClr val="0D1326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41448" y="2633472"/>
            <a:ext cx="21031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578608" y="3108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INFRASTRUCTURE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78608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non-profit. EF co-funded.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ecosystem, not Gnosis.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2633472"/>
            <a:ext cx="2103120" cy="2331720"/>
          </a:xfrm>
          <a:prstGeom prst="rect">
            <a:avLst/>
          </a:prstGeom>
          <a:solidFill>
            <a:srgbClr val="0D1326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54296" y="2633472"/>
            <a:ext cx="210312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91456" y="3108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SPECIFICITY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91456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'composability in general'.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partner: one concrete use case.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67144" y="2633472"/>
            <a:ext cx="2103120" cy="2331720"/>
          </a:xfrm>
          <a:prstGeom prst="rect">
            <a:avLst/>
          </a:prstGeom>
          <a:solidFill>
            <a:srgbClr val="0D1326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67144" y="2633472"/>
            <a:ext cx="21031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272491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004304" y="31089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ETHEREUM-NATIVE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04304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+ L2s. One slot.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consensus layer. No new token.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8600" y="5102352"/>
            <a:ext cx="8686800" cy="256032"/>
          </a:xfrm>
          <a:prstGeom prst="rect">
            <a:avLst/>
          </a:prstGeom>
          <a:solidFill>
            <a:srgbClr val="090E1C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51389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"3-second ZK proof" → always qualified: 'demonstrated live at EthCC' — never cited as shipped specification.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COLLABORATION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team works together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2834640" cy="3337560"/>
          </a:xfrm>
          <a:prstGeom prst="rect">
            <a:avLst/>
          </a:prstGeom>
          <a:solidFill>
            <a:srgbClr val="0A152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70432"/>
            <a:ext cx="2834640" cy="5029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43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1609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Ecosystem Relations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246888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029968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93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&amp; positioning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2377440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408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guide (canonical)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2724912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partner relations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" y="3072384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0358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approval (all external)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" y="3419856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Gnosis Marketing &amp; Content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749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direction, owns relationships,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line on what EEZ stands for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0128" y="1170432"/>
            <a:ext cx="2834640" cy="3337560"/>
          </a:xfrm>
          <a:prstGeom prst="rect">
            <a:avLst/>
          </a:prstGeom>
          <a:solidFill>
            <a:srgbClr val="13100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1170432"/>
            <a:ext cx="28346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1243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Gnosis M&amp;C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493008" y="1609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+ Content (execution)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93008" y="1920240"/>
            <a:ext cx="246888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11296" y="20299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5888" y="1993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execution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11296" y="23774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5888" y="23408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management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11296" y="27249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11296" y="30723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75888" y="30358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relationships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11296" y="34198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75888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blog publishing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93008" y="3749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against briefs.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 sets direction; they deliver.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82512" y="1170432"/>
            <a:ext cx="2834640" cy="3337560"/>
          </a:xfrm>
          <a:prstGeom prst="rect">
            <a:avLst/>
          </a:prstGeom>
          <a:solidFill>
            <a:srgbClr val="120A2A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82512" y="1170432"/>
            <a:ext cx="283464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124358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EGL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565392" y="160934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Growth Lead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65392" y="1920240"/>
            <a:ext cx="2468880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2029968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48272" y="1993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partner pipeline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583680" y="237744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23408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governance strategy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83680" y="2724912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48272" y="26883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management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3072384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48272" y="30358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&amp; researcher relations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583680" y="3419856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48272" y="33832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ETHGlobal / hackathons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65392" y="3749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the network.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 approves all outreach messaging.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090672" y="2468880"/>
            <a:ext cx="201168" cy="182880"/>
          </a:xfrm>
          <a:prstGeom prst="rightArrow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07792" y="26791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090672" y="2926080"/>
            <a:ext cx="201168" cy="182880"/>
          </a:xfrm>
          <a:prstGeom prst="leftArrow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0" y="312724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44768" y="2468880"/>
            <a:ext cx="201168" cy="182880"/>
          </a:xfrm>
          <a:prstGeom prst="right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61888" y="26791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44768" y="2926080"/>
            <a:ext cx="201168" cy="182880"/>
          </a:xfrm>
          <a:prstGeom prst="leftArrow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97880" y="31272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✓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solidFill>
            <a:srgbClr val="0A102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28600" y="4617720"/>
            <a:ext cx="73152" cy="38404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6634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outreach: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691640" y="466344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EGL identifies targets + logs CRM · HoER writes message template + approves tone before send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AI WORKFLOWS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AI systems that protect EEZ credibility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4251960" cy="1965960"/>
          </a:xfrm>
          <a:prstGeom prst="rect">
            <a:avLst/>
          </a:prstGeom>
          <a:solidFill>
            <a:srgbClr val="09182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70432"/>
            <a:ext cx="4251960" cy="5029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2618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2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2435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280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Guardian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" y="16459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Off-message Alliance post published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1901952"/>
            <a:ext cx="3886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3-pass pre-screen of every Alliance draft. Flags hard violations (forbidden phrases, unverified benchmarks) before HoER review.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" y="2834640"/>
            <a:ext cx="2194560" cy="219456"/>
          </a:xfrm>
          <a:prstGeom prst="rect">
            <a:avLst>
              <a:gd name="adj" fmla="val 16667"/>
            </a:avLst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28529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Build first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90872" y="1170432"/>
            <a:ext cx="4251960" cy="1965960"/>
          </a:xfrm>
          <a:prstGeom prst="rect">
            <a:avLst/>
          </a:prstGeom>
          <a:solidFill>
            <a:srgbClr val="120A2A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0872" y="1170432"/>
            <a:ext cx="4251960" cy="502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2618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30952" y="12435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88152" y="1280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Signal Monitor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55464" y="164592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Competitor move missed before messaging is updated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55464" y="1901952"/>
            <a:ext cx="3886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scans of EthResearch, AggLayer, Superchain. Routes HIGH signals immediately, digests weekly. Triggers messaging guide updates.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55464" y="2834640"/>
            <a:ext cx="1097280" cy="219456"/>
          </a:xfrm>
          <a:prstGeom prst="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2852928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310128"/>
            <a:ext cx="4251960" cy="1965960"/>
          </a:xfrm>
          <a:prstGeom prst="rect">
            <a:avLst/>
          </a:prstGeom>
          <a:solidFill>
            <a:srgbClr val="13100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310128"/>
            <a:ext cx="425196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401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8680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25880" y="34198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CRM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3192" y="378561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Partner relationships drift without visibility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" y="4041648"/>
            <a:ext cx="3886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partner records, tracks engagement signals, surfaces re-engagement cues. EGL owns CRM; AI ensures no member goes dark undetected.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" y="4974336"/>
            <a:ext cx="914400" cy="219456"/>
          </a:xfrm>
          <a:prstGeom prst="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" y="49926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90872" y="3310128"/>
            <a:ext cx="4251960" cy="1965960"/>
          </a:xfrm>
          <a:prstGeom prst="rect">
            <a:avLst/>
          </a:prstGeom>
          <a:solidFill>
            <a:srgbClr val="051C11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0872" y="3310128"/>
            <a:ext cx="42519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3401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330952" y="33832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788152" y="341985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Intelligence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855464" y="378561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Sprint deadline failures discovered too late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55464" y="4041648"/>
            <a:ext cx="3886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content tracker state. Three alert types: deadline proximity, drift detection, sprint health. Escalation ladder: HoER → EGL → Ernst.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55464" y="4974336"/>
            <a:ext cx="2468880" cy="219456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28616" y="499262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 · Build second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0040" y="51480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share one dependency: the Messaging Guide — the single source of truth that Brand Guardian enforces, Monitor updates, CRM tracks, and Calendar checks compliance against.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8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30-DAY PLAN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 → Development → Execution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70432"/>
            <a:ext cx="2834640" cy="50292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8346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11–20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3640" y="1170432"/>
            <a:ext cx="283464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234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21–30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14813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Execution Begins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1874520"/>
            <a:ext cx="2834640" cy="566928"/>
          </a:xfrm>
          <a:prstGeom prst="rect">
            <a:avLst/>
          </a:prstGeom>
          <a:solidFill>
            <a:srgbClr val="091820"/>
          </a:solidFill>
          <a:ln w="12700">
            <a:solidFill>
              <a:srgbClr val="0918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" y="1965960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874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EEZ's current comms landscape. Define category frame: 'One Ethereum'.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" y="2578608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87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Guide v1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27614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Forbidden phrases, approved language, governance block, benchmark rules.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099816"/>
            <a:ext cx="2834640" cy="566928"/>
          </a:xfrm>
          <a:prstGeom prst="rect">
            <a:avLst/>
          </a:prstGeom>
          <a:solidFill>
            <a:srgbClr val="091820"/>
          </a:solidFill>
          <a:ln w="12700">
            <a:solidFill>
              <a:srgbClr val="0918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" y="3191256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998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33741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brief template. 300–600 word 'why we joined' framework.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" y="3803904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12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Mapping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39867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founders: champion, engagement level, content commitment date.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4325112"/>
            <a:ext cx="2834640" cy="566928"/>
          </a:xfrm>
          <a:prstGeom prst="rect">
            <a:avLst/>
          </a:prstGeom>
          <a:solidFill>
            <a:srgbClr val="091820"/>
          </a:solidFill>
          <a:ln w="12700">
            <a:solidFill>
              <a:srgbClr val="0918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" y="4416552"/>
            <a:ext cx="91440" cy="91440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251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Database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599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EGL's CRM with all 10 members + Chainlink + Spark. Set baseline.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1874520"/>
            <a:ext cx="2834640" cy="566928"/>
          </a:xfrm>
          <a:prstGeom prst="rect">
            <a:avLst/>
          </a:prstGeom>
          <a:solidFill>
            <a:srgbClr val="131005"/>
          </a:solidFill>
          <a:ln w="12700">
            <a:solidFill>
              <a:srgbClr val="13100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19659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1874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Calls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52044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Month-1 call with each founding member. Extract written commitment.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55848" y="257860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2487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Review Cycle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520440" y="27614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arrive. Run Brand Guardian pre-screen + HoER review.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46120" y="3099816"/>
            <a:ext cx="2834640" cy="566928"/>
          </a:xfrm>
          <a:prstGeom prst="rect">
            <a:avLst/>
          </a:prstGeom>
          <a:solidFill>
            <a:srgbClr val="131005"/>
          </a:solidFill>
          <a:ln w="12700">
            <a:solidFill>
              <a:srgbClr val="13100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55848" y="319125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30998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Briefs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520440" y="33741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Gnosis Marketing + Content. Sync on segment variants.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355848" y="38039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3712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Operator Outreach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520440" y="39867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 message template with EGL for non-Gnosis L2 targets.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46120" y="4325112"/>
            <a:ext cx="2834640" cy="566928"/>
          </a:xfrm>
          <a:prstGeom prst="rect">
            <a:avLst/>
          </a:prstGeom>
          <a:solidFill>
            <a:srgbClr val="131005"/>
          </a:solidFill>
          <a:ln w="12700">
            <a:solidFill>
              <a:srgbClr val="13100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55848" y="44165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43251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 Setup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520440" y="4599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Guardian v1 live. Content Calendar monitoring begins.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263640" y="1874520"/>
            <a:ext cx="2834640" cy="566928"/>
          </a:xfrm>
          <a:prstGeom prst="rect">
            <a:avLst/>
          </a:prstGeom>
          <a:solidFill>
            <a:srgbClr val="051C11"/>
          </a:solidFill>
          <a:ln w="12700">
            <a:solidFill>
              <a:srgbClr val="051C1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73368" y="196596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18745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Publish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537960" y="21488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simultaneous Alliance publication window opens.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73368" y="257860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24871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Amplification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537960" y="27614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Gnosis Content: @etheconomiczone posts. No campaigns — resonance.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3099816"/>
            <a:ext cx="2834640" cy="566928"/>
          </a:xfrm>
          <a:prstGeom prst="rect">
            <a:avLst/>
          </a:prstGeom>
          <a:solidFill>
            <a:srgbClr val="051C11"/>
          </a:solidFill>
          <a:ln w="12700">
            <a:solidFill>
              <a:srgbClr val="051C1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73368" y="3191256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3099816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EthResearch Post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537960" y="337413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Peer-participation post (not marketing). Link to Baylina spec.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373368" y="380390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3712464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Non-Gnosis L2 Push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537960" y="39867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EGL outreach active — HoER message approved. June 1 gate tracking.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63640" y="4325112"/>
            <a:ext cx="2834640" cy="566928"/>
          </a:xfrm>
          <a:prstGeom prst="rect">
            <a:avLst/>
          </a:prstGeom>
          <a:solidFill>
            <a:srgbClr val="051C11"/>
          </a:solidFill>
          <a:ln w="12700">
            <a:solidFill>
              <a:srgbClr val="051C1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73368" y="4416552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37960" y="4325112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6537960" y="4599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who delivered, who needs Phase 2 lead time.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8600" y="5010912"/>
            <a:ext cx="8686800" cy="320040"/>
          </a:xfrm>
          <a:prstGeom prst="rect">
            <a:avLst/>
          </a:prstGeom>
          <a:solidFill>
            <a:srgbClr val="090E1C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365760" y="5056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Leading Indicator: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2011680" y="5056632"/>
            <a:ext cx="6766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Non-Gnosis L2 in committed evaluation by June 1, 2026 · 5+ Alliance drafts in review by May 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9 / 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APPROVAL ASKS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572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 need from you to move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20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8686800" cy="1207008"/>
          </a:xfrm>
          <a:prstGeom prst="rect">
            <a:avLst/>
          </a:prstGeom>
          <a:solidFill>
            <a:srgbClr val="1C1500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188720"/>
            <a:ext cx="91440" cy="1207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2618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messaging authority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0120" y="1664208"/>
            <a:ext cx="4114800" cy="219456"/>
          </a:xfrm>
          <a:prstGeom prst="rect">
            <a:avLst>
              <a:gd name="adj" fmla="val 16667"/>
            </a:avLst>
          </a:prstGeom>
          <a:solidFill>
            <a:srgbClr val="1C1500"/>
          </a:solidFill>
          <a:ln w="12700">
            <a:solidFill>
              <a:srgbClr val="1C1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682496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first Alliance call · Week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51560" y="168249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first Alliance call · Week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192024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 holds final approval on all external EEZ content before publication — social, blog, press, Alliance member posts, DAO forum posts. Without this gate, one off-message post is a permanent search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28600" y="2487168"/>
            <a:ext cx="8686800" cy="1207008"/>
          </a:xfrm>
          <a:prstGeom prst="rect">
            <a:avLst/>
          </a:prstGeom>
          <a:solidFill>
            <a:srgbClr val="131D35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487168"/>
            <a:ext cx="91440" cy="1207008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2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25786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interface with Gnosis Marketing &amp; Content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60120" y="2962656"/>
            <a:ext cx="5029200" cy="219456"/>
          </a:xfrm>
          <a:prstGeom prst="rect">
            <a:avLst>
              <a:gd name="adj" fmla="val 16667"/>
            </a:avLst>
          </a:prstGeom>
          <a:solidFill>
            <a:srgbClr val="091820"/>
          </a:solidFill>
          <a:ln w="12700">
            <a:solidFill>
              <a:srgbClr val="0918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2980944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Gnosis Content role is filled · Week 1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51560" y="298094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before Gnosis Content role is filled · Week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321868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HoER writes positioning briefs; Gnosis Marketing + Content execute. Confirm that neither team publishes EEZ-branded content without HoER approval. Set this expectation with both team leads now.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3785616"/>
            <a:ext cx="8686800" cy="1207008"/>
          </a:xfrm>
          <a:prstGeom prst="rect">
            <a:avLst/>
          </a:prstGeom>
          <a:solidFill>
            <a:srgbClr val="180404"/>
          </a:solidFill>
          <a:ln w="6350">
            <a:solidFill>
              <a:srgbClr val="1A25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785616"/>
            <a:ext cx="91440" cy="1207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8587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F444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0120" y="3877056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EGL hiring timeline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0120" y="4261104"/>
            <a:ext cx="5029200" cy="219456"/>
          </a:xfrm>
          <a:prstGeom prst="rect">
            <a:avLst>
              <a:gd name="adj" fmla="val 16667"/>
            </a:avLst>
          </a:prstGeom>
          <a:solidFill>
            <a:srgbClr val="180404"/>
          </a:solidFill>
          <a:ln w="12700">
            <a:solidFill>
              <a:srgbClr val="18040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272" y="4279392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non-Gnosis L2 commitment needed by June 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51560" y="427939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non-Gnosis L2 commitment needed by June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60120" y="4517136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EGL is not in role by April 21, the non-Gnosis L2 outreach pipeline (June 1 hard gate) has no owner. The fallback is Ernst directly. Confirm the plan so HoER does not inherit growth tasks that belong to EGL.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749808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499616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2249424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999232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3749040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4498848"/>
            <a:ext cx="8979408" cy="9144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goal is simple.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mainnet, credibility is EEZ's only asset.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plan protects it — and builds the framework that makes the right words come naturally.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0" cy="32004"/>
          </a:xfrm>
          <a:prstGeom prst="rect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26080"/>
            <a:ext cx="109728" cy="109728"/>
          </a:xfrm>
          <a:prstGeom prst="ellipse">
            <a:avLst/>
          </a:prstGeom>
          <a:solidFill>
            <a:srgbClr val="00C2B2"/>
          </a:solidFill>
          <a:ln w="12700">
            <a:solidFill>
              <a:srgbClr val="00C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8036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guide live before first Alliance draft arrives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6440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content sprint: 10 posts, coordinated window, May–June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4845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Non-Gnosis L2 in committed evaluation by June 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3250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workflows intercept credibility risks before they publish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44348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Head of Ecosystem Relations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EEZ Association · April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EEZ · ETHEREUM ECONOMIC ZONE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EEZ — Head of Ecosystem Relations — Manager Brief</dc:title>
  <dc:subject>PptxGenJS Presentation</dc:subject>
  <dc:creator>PptxGenJS</dc:creator>
  <cp:lastModifiedBy>PptxGenJS</cp:lastModifiedBy>
  <cp:revision>1</cp:revision>
  <dcterms:created xsi:type="dcterms:W3CDTF">2026-04-07T12:28:33Z</dcterms:created>
  <dcterms:modified xsi:type="dcterms:W3CDTF">2026-04-07T12:28:33Z</dcterms:modified>
</cp:coreProperties>
</file>